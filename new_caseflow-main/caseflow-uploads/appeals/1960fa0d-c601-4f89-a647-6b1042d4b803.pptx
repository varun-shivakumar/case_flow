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134806516" r:id="rId5"/>
    <p:sldId id="2134806517" r:id="rId6"/>
    <p:sldId id="2147471377" r:id="rId7"/>
    <p:sldId id="2147471378" r:id="rId8"/>
    <p:sldId id="21474713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8696EBA4-1B12-6345-8389-A53EA9916143}">
          <p14:sldIdLst>
            <p14:sldId id="2134806516"/>
            <p14:sldId id="2134806517"/>
          </p14:sldIdLst>
        </p14:section>
        <p14:section name="Content layouts" id="{F90BE988-6113-4F47-A23F-CBF39E418D68}">
          <p14:sldIdLst>
            <p14:sldId id="2147471377"/>
            <p14:sldId id="2147471378"/>
            <p14:sldId id="2147471360"/>
          </p14:sldIdLst>
        </p14:section>
        <p14:section name="Image Layouts" id="{C78F5A13-2914-5E49-8483-8B5345A26DF0}">
          <p14:sldIdLst/>
        </p14:section>
        <p14:section name="Charts and graphs" id="{5620B7A9-0846-EC40-8FDE-40D41BD545D8}">
          <p14:sldIdLst/>
        </p14:section>
        <p14:section name="Tables" id="{62B2A995-7AE1-BC4C-9E74-49823660E647}">
          <p14:sldIdLst/>
        </p14:section>
        <p14:section name="Closing Slide" id="{9CEBC974-04FA-4B47-9EC6-CE31A2EE0F2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B9E5"/>
    <a:srgbClr val="2F78C4"/>
    <a:srgbClr val="89F9FC"/>
    <a:srgbClr val="2DB820"/>
    <a:srgbClr val="EAC71D"/>
    <a:srgbClr val="B81E2D"/>
    <a:srgbClr val="424242"/>
    <a:srgbClr val="ECECEC"/>
    <a:srgbClr val="000048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outlineViewPr>
    <p:cViewPr>
      <p:scale>
        <a:sx n="33" d="100"/>
        <a:sy n="33" d="100"/>
      </p:scale>
      <p:origin x="0" y="-200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10" d="100"/>
          <a:sy n="110" d="100"/>
        </p:scale>
        <p:origin x="416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8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43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AA1AE-E390-7907-56B7-BC825869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F24D5-04EA-1770-B979-2D3BA0AD4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1B896-C7E2-522A-0393-A230C3955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42F38-2C43-6052-D056-847E763D8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98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EC3D-398B-C7B0-DA05-6BF0A2E4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EC836-7E3A-64DD-828B-CBD59764E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D1F4F-1FB8-B482-DFCE-7BD608439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DB735-5BAE-644E-7AE5-8C4F190BA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0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8227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25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832863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2023 Cognizant | Confidential &amp; Proprietary</a:t>
            </a:r>
            <a:endParaRPr lang="en-US" dirty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66452" y="1094366"/>
            <a:ext cx="2628901" cy="4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36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F505-C9D5-403B-9D3B-321A20493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indent="0">
              <a:buClr>
                <a:schemeClr val="accent3"/>
              </a:buClr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TOC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15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90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3286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96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04956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04956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13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43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28106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05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683D89A3-7746-6A4C-A4B4-55083AFF42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62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 userDrawn="1">
          <p15:clr>
            <a:srgbClr val="FBAE40"/>
          </p15:clr>
        </p15:guide>
        <p15:guide id="4" pos="71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04956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40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C3714E0-F154-3C48-95D7-D6542B904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16531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55FE01-A547-E549-9FD2-968ECC91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E086D4D-AE0E-994F-85B0-5741E54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C7A3CB3C-2056-274C-89F4-0A44817545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94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28106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19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39680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58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9C8C99-BBA1-1042-9B2A-5F6540E4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16531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10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62E9631-BF87-CC43-9BC1-A43B69D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3F4B7D8-7EA5-AC4B-9A01-F35CCDF0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16531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3586DF7-1DE2-054D-B3DF-425EEC22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6ACFE70C-14DB-2649-88BF-B8FC4CBAD9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52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28106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14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2DAB97BD-2DAF-92C7-57CE-FD802BBA50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78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-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52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839680" cy="3657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7014296-2734-FA5F-94AF-F9D441AE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872FF-F4A9-EC4C-AFA7-65B0DF8816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BDCE571-2427-E9D3-D912-0E8469F0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483158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F7AC9C5-12E9-9E44-9EC8-143CC68E1C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-1"/>
            <a:ext cx="6096000" cy="6858001"/>
          </a:xfrm>
        </p:spPr>
        <p:txBody>
          <a:bodyPr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B34307-3F79-684E-8108-52BE58260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D050447-227B-4CC5-3DE0-91C29FFDFDD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4652128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4652347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5A8EF-708C-9159-E197-0752DFF6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 |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93116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2023 Cognizant | Confidential &amp; Proprietary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6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4" r:id="rId2"/>
    <p:sldLayoutId id="2147483729" r:id="rId3"/>
    <p:sldLayoutId id="2147483773" r:id="rId4"/>
    <p:sldLayoutId id="2147483665" r:id="rId5"/>
    <p:sldLayoutId id="2147483798" r:id="rId6"/>
    <p:sldLayoutId id="2147483799" r:id="rId7"/>
    <p:sldLayoutId id="2147483808" r:id="rId8"/>
    <p:sldLayoutId id="2147483809" r:id="rId9"/>
    <p:sldLayoutId id="2147483775" r:id="rId10"/>
    <p:sldLayoutId id="2147483781" r:id="rId11"/>
    <p:sldLayoutId id="2147483776" r:id="rId12"/>
    <p:sldLayoutId id="2147483740" r:id="rId13"/>
    <p:sldLayoutId id="2147483734" r:id="rId14"/>
    <p:sldLayoutId id="2147483783" r:id="rId15"/>
    <p:sldLayoutId id="2147483733" r:id="rId16"/>
    <p:sldLayoutId id="2147483772" r:id="rId17"/>
    <p:sldLayoutId id="2147483823" r:id="rId18"/>
    <p:sldLayoutId id="2147483726" r:id="rId19"/>
    <p:sldLayoutId id="2147483796" r:id="rId20"/>
    <p:sldLayoutId id="2147483797" r:id="rId21"/>
    <p:sldLayoutId id="2147483795" r:id="rId22"/>
    <p:sldLayoutId id="2147483824" r:id="rId2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orient="horz" pos="41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5EC59C0-9CBA-8F4F-A32F-8F05A2B79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185" y="1928004"/>
            <a:ext cx="4850575" cy="2342072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vs Generative AI: From Analyzing the World to Creating It</a:t>
            </a:r>
            <a:endParaRPr lang="en-US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25B54-6779-CD4A-A56B-DDD9A922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2023 Cognizant |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49961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3A40794-25F2-E3C3-EAB9-46F7CE62BAE9}"/>
              </a:ext>
            </a:extLst>
          </p:cNvPr>
          <p:cNvSpPr txBox="1">
            <a:spLocks/>
          </p:cNvSpPr>
          <p:nvPr/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en-US" sz="2400" b="1" kern="1200">
                <a:solidFill>
                  <a:schemeClr val="tx1"/>
                </a:solidFill>
              </a:rPr>
              <a:t>AI vs Generative AI – Setting the Stage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BF71A-AD4E-0945-BEE3-696103A2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</p:spPr>
        <p:txBody>
          <a:bodyPr vert="horz" wrap="none" lIns="0" tIns="0" rIns="0" bIns="0" rtlCol="0" anchor="b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© 2023 Cognizant | 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04480-A95E-FD85-9E9B-C3F00524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</p:spPr>
        <p:txBody>
          <a:bodyPr vert="horz" wrap="none" lIns="0" tIns="0" rIns="0" bIns="0" rtlCol="0" anchor="b" anchorCtr="0"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FAA8C-343B-F2A9-8538-F4F4757BE881}"/>
              </a:ext>
            </a:extLst>
          </p:cNvPr>
          <p:cNvSpPr txBox="1"/>
          <p:nvPr/>
        </p:nvSpPr>
        <p:spPr>
          <a:xfrm>
            <a:off x="6236494" y="1700784"/>
            <a:ext cx="5588794" cy="395908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marL="457200" indent="-457200">
              <a:spcBef>
                <a:spcPts val="1000"/>
              </a:spcBef>
              <a:buFont typeface="+mj-lt"/>
              <a:buAutoNum type="arabicPeriod"/>
            </a:pPr>
            <a:r>
              <a:rPr lang="en-US" b="1" kern="1200" dirty="0"/>
              <a:t>Traditional AI Focus</a:t>
            </a:r>
          </a:p>
          <a:p>
            <a:pPr marL="0" lvl="1">
              <a:spcBef>
                <a:spcPts val="1000"/>
              </a:spcBef>
            </a:pPr>
            <a:r>
              <a:rPr lang="en-US" kern="1200" dirty="0"/>
              <a:t>Traditional AI analyzes data, identifies patterns, and predicts outcomes based on historical information.</a:t>
            </a:r>
          </a:p>
          <a:p>
            <a:pPr marL="457200" indent="-457200">
              <a:spcBef>
                <a:spcPts val="1000"/>
              </a:spcBef>
              <a:buFont typeface="+mj-lt"/>
              <a:buAutoNum type="arabicPeriod"/>
            </a:pPr>
            <a:r>
              <a:rPr lang="en-US" b="1" kern="1200" dirty="0"/>
              <a:t>Generative AI Innovation</a:t>
            </a:r>
          </a:p>
          <a:p>
            <a:pPr>
              <a:spcBef>
                <a:spcPts val="1000"/>
              </a:spcBef>
            </a:pPr>
            <a:r>
              <a:rPr lang="en-US" kern="1200" dirty="0"/>
              <a:t>Generative AI creates new content like text, images, code, and ideas that previously did not exist.</a:t>
            </a:r>
          </a:p>
        </p:txBody>
      </p:sp>
      <p:pic>
        <p:nvPicPr>
          <p:cNvPr id="9" name="Content Placeholder 7" descr="Water droplet on a petal">
            <a:extLst>
              <a:ext uri="{FF2B5EF4-FFF2-40B4-BE49-F238E27FC236}">
                <a16:creationId xmlns:a16="http://schemas.microsoft.com/office/drawing/2014/main" id="{DD1CB0DC-DE0B-8EA6-4FF1-715BC60549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03" r="7093"/>
          <a:stretch>
            <a:fillRect/>
          </a:stretch>
        </p:blipFill>
        <p:spPr>
          <a:xfrm>
            <a:off x="457200" y="1700784"/>
            <a:ext cx="5588794" cy="39590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0438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3E70-7E92-45D6-FFF3-C8E87987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8C585-5F82-59B7-0EB2-DE00F30EE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0944" y="152400"/>
            <a:ext cx="5213229" cy="883536"/>
          </a:xfrm>
        </p:spPr>
        <p:txBody>
          <a:bodyPr anchor="t">
            <a:normAutofit/>
          </a:bodyPr>
          <a:lstStyle/>
          <a:p>
            <a:r>
              <a:rPr lang="en-US" dirty="0"/>
              <a:t>Traditional AI – The Analyst</a:t>
            </a:r>
          </a:p>
        </p:txBody>
      </p:sp>
      <p:pic>
        <p:nvPicPr>
          <p:cNvPr id="5" name="Content Placeholder 7" descr="Digital financial graph">
            <a:extLst>
              <a:ext uri="{FF2B5EF4-FFF2-40B4-BE49-F238E27FC236}">
                <a16:creationId xmlns:a16="http://schemas.microsoft.com/office/drawing/2014/main" id="{89E46961-E048-7608-39FA-6E20F7F01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52400"/>
            <a:ext cx="5074920" cy="63001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B43EE3-8391-1534-B6FF-CF2D7A8AF94E}"/>
              </a:ext>
            </a:extLst>
          </p:cNvPr>
          <p:cNvSpPr txBox="1"/>
          <p:nvPr/>
        </p:nvSpPr>
        <p:spPr>
          <a:xfrm>
            <a:off x="5557483" y="1251141"/>
            <a:ext cx="6111814" cy="225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Applications</a:t>
            </a:r>
          </a:p>
          <a:p>
            <a:pPr marL="285750" indent="-28575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Efficiency</a:t>
            </a:r>
          </a:p>
          <a:p>
            <a:pPr marL="285750" indent="-28575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from Human Creativity</a:t>
            </a:r>
          </a:p>
        </p:txBody>
      </p:sp>
    </p:spTree>
    <p:extLst>
      <p:ext uri="{BB962C8B-B14F-4D97-AF65-F5344CB8AC3E}">
        <p14:creationId xmlns:p14="http://schemas.microsoft.com/office/powerpoint/2010/main" val="211992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D1A8-8CCA-79C1-B9EF-5207E57EE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7" descr="Modern background">
            <a:extLst>
              <a:ext uri="{FF2B5EF4-FFF2-40B4-BE49-F238E27FC236}">
                <a16:creationId xmlns:a16="http://schemas.microsoft.com/office/drawing/2014/main" id="{0CB95872-FB5C-D6AB-E9D6-10C39DBFF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57" r="25593" b="1"/>
          <a:stretch>
            <a:fillRect/>
          </a:stretch>
        </p:blipFill>
        <p:spPr>
          <a:xfrm>
            <a:off x="152400" y="152399"/>
            <a:ext cx="4845028" cy="6553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7A60436-C0A1-3CE3-A48D-8DF22E08F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0" y="385316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Generative AI – The Creator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AFB4A75-E361-0F4B-2FBF-1273B466F85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442693" y="1482596"/>
            <a:ext cx="5616372" cy="27357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Content Generation</a:t>
            </a:r>
          </a:p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and Intuitive</a:t>
            </a:r>
          </a:p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Productivity and Personalization</a:t>
            </a:r>
          </a:p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82898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1">
            <a:extLst>
              <a:ext uri="{FF2B5EF4-FFF2-40B4-BE49-F238E27FC236}">
                <a16:creationId xmlns:a16="http://schemas.microsoft.com/office/drawing/2014/main" id="{D7C60EC7-E7BB-A555-A2AA-A6C93DE2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32864" cy="30357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© 2023 Cognizant | Confidential &amp; Proprietary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EB4B056-2574-FEA4-978B-32C71358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</p:spPr>
        <p:txBody>
          <a:bodyPr/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614AEA4-C4F0-724A-A9B2-7E0A1A68D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036802"/>
            <a:ext cx="9381744" cy="1107996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Traditional AI is your expert analyst; Generative AI is your creative co-pilot.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5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gnizant 2023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2F8E"/>
      </a:accent2>
      <a:accent3>
        <a:srgbClr val="2F78C4"/>
      </a:accent3>
      <a:accent4>
        <a:srgbClr val="91B9E5"/>
      </a:accent4>
      <a:accent5>
        <a:srgbClr val="05C7CC"/>
      </a:accent5>
      <a:accent6>
        <a:srgbClr val="000048"/>
      </a:accent6>
      <a:hlink>
        <a:srgbClr val="2F78C3"/>
      </a:hlink>
      <a:folHlink>
        <a:srgbClr val="91B9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9D4EBE8-3F7E-4619-B76F-0B0BF7F9FB71}" vid="{48B051EE-1B79-499E-A6A7-28854F4177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2F93B58C3C774E86F3F35FA6ED6C8A" ma:contentTypeVersion="9" ma:contentTypeDescription="Create a new document." ma:contentTypeScope="" ma:versionID="f2336a912e5acd06d0bbf9669bc70925">
  <xsd:schema xmlns:xsd="http://www.w3.org/2001/XMLSchema" xmlns:xs="http://www.w3.org/2001/XMLSchema" xmlns:p="http://schemas.microsoft.com/office/2006/metadata/properties" xmlns:ns3="a428c33f-dede-49df-a963-4a1a538bd195" targetNamespace="http://schemas.microsoft.com/office/2006/metadata/properties" ma:root="true" ma:fieldsID="21ee7cc0c7ccb583e41831621fef1d5f" ns3:_="">
    <xsd:import namespace="a428c33f-dede-49df-a963-4a1a538bd19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28c33f-dede-49df-a963-4a1a538bd19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28c33f-dede-49df-a963-4a1a538bd19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5E213B-EC95-456C-ADCC-9F84B563CE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28c33f-dede-49df-a963-4a1a538bd1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5434AD-C3DD-4033-A63E-F6FE9BDA23DA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a428c33f-dede-49df-a963-4a1a538bd19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020AD93-EC2D-4327-9EF1-902D27AF5C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Cognizant template - Copy</Template>
  <TotalTime>2769</TotalTime>
  <Words>136</Words>
  <Application>Microsoft Office PowerPoint</Application>
  <PresentationFormat>Widescreen</PresentationFormat>
  <Paragraphs>26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Times New Roman</vt:lpstr>
      <vt:lpstr>Office Theme</vt:lpstr>
      <vt:lpstr>AI vs Generative AI: From Analyzing the World to Creating It</vt:lpstr>
      <vt:lpstr>PowerPoint Presentation</vt:lpstr>
      <vt:lpstr>Traditional AI – The Analyst</vt:lpstr>
      <vt:lpstr>Generative AI – The Creator</vt:lpstr>
      <vt:lpstr>Traditional AI is your expert analyst; Generative AI is your creative co-pilot.</vt:lpstr>
    </vt:vector>
  </TitlesOfParts>
  <Manager/>
  <Company>Cognizant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Kumar, Mandalapu Tarak Ajay (Contractor)</dc:creator>
  <cp:keywords/>
  <dc:description/>
  <cp:lastModifiedBy>Kumar, Mandalapu Tarak Ajay (Contractor)</cp:lastModifiedBy>
  <cp:revision>7</cp:revision>
  <dcterms:created xsi:type="dcterms:W3CDTF">2026-03-04T11:07:43Z</dcterms:created>
  <dcterms:modified xsi:type="dcterms:W3CDTF">2026-04-29T03:12:49Z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0x0101008C2F93B58C3C774E86F3F35FA6ED6C8A</vt:lpwstr>
  </property>
  <property fmtid="{D5CDD505-2E9C-101B-9397-08002B2CF9AE}" pid="3" name="MediaServiceImageTags">
    <vt:lpwstr/>
  </property>
</Properties>
</file>